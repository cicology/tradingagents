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340E7-23B4-43EB-B829-C299523584A9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54D49-CE7C-4D23-ACF0-A2EA006A4E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243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Internal repository assessment dated 2026-09-03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54D49-CE7C-4D23-ACF0-A2EA006A4E18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2877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Internal repository assessment dated 2026-09-03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54D49-CE7C-4D23-ACF0-A2EA006A4E18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4618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[Sources]</a:t>
            </a:r>
          </a:p>
          <a:p>
            <a:r>
              <a:rPr lang="en-ZA"/>
              <a:t>https://www.quantconnect.com/</a:t>
            </a:r>
          </a:p>
          <a:p>
            <a:r>
              <a:rPr lang="en-ZA"/>
              <a:t>https://capitalise.ai/</a:t>
            </a:r>
          </a:p>
          <a:p>
            <a:r>
              <a:rPr lang="en-ZA"/>
              <a:t>https://www.composer.trade/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54D49-CE7C-4D23-ACF0-A2EA006A4E18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2277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Internal product direction and repository design documents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54D49-CE7C-4D23-ACF0-A2EA006A4E18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3404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Internal repository assessment dated 2026-09-03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54D49-CE7C-4D23-ACF0-A2EA006A4E18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6930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[Sources]</a:t>
            </a:r>
          </a:p>
          <a:p>
            <a:r>
              <a:rPr lang="en-ZA"/>
              <a:t>https://www.mql5.com/en/docs/python_metatrader5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54D49-CE7C-4D23-ACF0-A2EA006A4E18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0054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[Sources]</a:t>
            </a:r>
          </a:p>
          <a:p>
            <a:r>
              <a:rPr lang="en-ZA"/>
              <a:t>Internal productization plan dated 2026-09-03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54D49-CE7C-4D23-ACF0-A2EA006A4E18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18669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</a:t>
            </a:r>
          </a:p>
          <a:p>
            <a:r>
              <a:rPr lang="en-US"/>
              <a:t>Internal repository assessment; estimates are inference-based and not commitments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54D49-CE7C-4D23-ACF0-A2EA006A4E18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24490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EA89-8F6B-FDAE-57B7-6B048248B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737C9-ADD7-7E0A-95FF-75BCF985B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00C13-255A-5A28-82EC-5E297148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2DDD0-E1C5-B788-1B4B-126CB8763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A9FA2-A316-CBE8-71FF-304F0E52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023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EA6E-D318-0E18-6901-62B40E95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C33DD-4FC7-5F0D-B133-C7371D24B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C9E6-4E9C-8387-AC76-8F80B361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AE1CF-ECC4-B268-D13F-57A9F219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EE986-DEBF-7F95-A583-26FFABBF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400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BF58-C598-9440-E4E7-4EA1464B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82B56-B63B-3B6D-9755-CD3ABEC66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98C6F-0449-E3A4-C41A-47033E856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782C-71DF-7D34-06E3-7A46D451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A70C3-3F88-2E60-2085-62C9752C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0296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129B-CC23-4703-06C9-3B7AFD2F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8024-A11F-5932-4EA5-8CDF7F256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9872B-065B-0CBD-616E-111701608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67447-8E8D-DD00-6593-B0E5E5F0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81CDA-4B08-CB8C-2D8B-B62CE182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F5411-AF37-E80F-CC9E-085A68F5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2681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438EA-3A65-D686-3E1D-6C3CB2ACA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796FC-8388-8A9D-4619-4C10DCCF8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2B9DD-D3F0-AE69-150E-F78A76445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C8A88-5FEA-B415-F012-C9AF4C723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30643-E658-7988-82B0-955304F90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AD89FE-45A7-0774-6EF9-E90B7805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04CF3C-685E-E47D-6636-ECD66C12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53BFF-2DA2-7AE6-F29B-C57BFB3A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46341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AA37-1688-7FE2-8764-ADE9F305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F9DF4-9134-FC31-14E5-FB051470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9D787-D7D6-D5F5-2928-59C3A810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D9809-E251-5363-3491-2672DF67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976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15FD0D-ACA8-B9D8-ADBC-B33F9024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400DD8-D0EB-2B97-B1F9-5ADEAA63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AE143-FAC1-1F16-1CBC-DADCFFEF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925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40C78-130A-EFD1-2583-091322D4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D939D-14BB-FE11-23CD-E51A23B46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1F5E5-6D89-0214-061A-1F7DF1B2A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9158E-04C7-8A01-5842-88940954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54080-61AA-DB87-E9FC-ECE9E436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07393-7DCC-9D8C-5282-DE40D639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58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5761-DC2D-1823-3D37-A72840D6C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147FBD-D02E-B2E8-3320-A7FA8A425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2879D-599A-5CDC-9D9A-4311941A1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99E29-31DB-D3D1-4348-ED94A0EE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171F9-3FB4-7116-58DA-21F354F6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666B6-0467-580F-96C7-65395BD67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4067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1E74-F593-8C8C-84FF-A863323F1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44C0A-B9E0-6362-4D3C-493C449D5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20B75-F55F-F364-2852-276003B2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3CEB3-7290-FEC9-D729-C416BF885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CF327-05E9-7C21-D583-E3ABBBA8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2608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926B4-4D98-5DA7-DD8C-50061CF46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8A5AB-48AA-0F43-0E22-5FF7C514E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D384B-A955-9102-B7F4-2771E6604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74C0D-89D0-FFBD-56FA-099BA860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0CF6F-39BE-F1D6-52E3-2C4C9421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2770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4F84E-2B7A-88BD-47B2-8AE7FDB6B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43C0C-28F4-2A96-F2B1-7B74F3EAC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EEB82-C648-15C6-B64B-757A341C8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28931-43C8-4483-A0CD-B24E778F4BB2}" type="datetimeFigureOut">
              <a:rPr lang="en-ZA" smtClean="0"/>
              <a:t>03-Sept-2026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85618-9430-4366-E261-8848E0A3A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51894-F1F8-911B-4EDD-7D36A3980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80F37F-4C86-470C-A8BE-D39D5800670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903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3C94BD-FCAC-15E7-16D3-53B07257A4F9}"/>
              </a:ext>
            </a:extLst>
          </p:cNvPr>
          <p:cNvSpPr txBox="1"/>
          <p:nvPr/>
        </p:nvSpPr>
        <p:spPr>
          <a:xfrm>
            <a:off x="4038600" y="1168400"/>
            <a:ext cx="41148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4500"/>
                </a:solidFill>
                <a:latin typeface="Aptos" panose="020B0004020202020204" pitchFamily="34" charset="0"/>
              </a:rPr>
              <a:t>2026 PRODUCT READINESS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08552-FB79-E697-ED31-C685C42C4630}"/>
              </a:ext>
            </a:extLst>
          </p:cNvPr>
          <p:cNvSpPr txBox="1"/>
          <p:nvPr/>
        </p:nvSpPr>
        <p:spPr>
          <a:xfrm>
            <a:off x="1041400" y="2209800"/>
            <a:ext cx="10109200" cy="14465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ZA" sz="4400">
                <a:solidFill>
                  <a:srgbClr val="FFFFFF"/>
                </a:solidFill>
                <a:latin typeface="Georgia" panose="02040502050405020303" pitchFamily="18" charset="0"/>
              </a:rPr>
              <a:t>Oryares Productization</a:t>
            </a:r>
          </a:p>
          <a:p>
            <a:pPr algn="ctr"/>
            <a:r>
              <a:rPr lang="en-ZA" sz="4400">
                <a:solidFill>
                  <a:srgbClr val="FFFFFF"/>
                </a:solidFill>
                <a:latin typeface="Georgia" panose="02040502050405020303" pitchFamily="18" charset="0"/>
              </a:rPr>
              <a:t>Market &amp; Readiness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88D1C-B2F2-A520-40DA-FDFC81E34697}"/>
              </a:ext>
            </a:extLst>
          </p:cNvPr>
          <p:cNvSpPr txBox="1"/>
          <p:nvPr/>
        </p:nvSpPr>
        <p:spPr>
          <a:xfrm>
            <a:off x="2438400" y="4927600"/>
            <a:ext cx="73152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500">
                <a:solidFill>
                  <a:srgbClr val="808080"/>
                </a:solidFill>
                <a:latin typeface="Aptos" panose="020B0004020202020204" pitchFamily="34" charset="0"/>
              </a:rPr>
              <a:t>Competitive signals, launch gates, and the shortest responsible route to market</a:t>
            </a:r>
            <a:endParaRPr lang="en-ZA" sz="15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06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372760-E77C-145B-5C88-397355F354FC}"/>
              </a:ext>
            </a:extLst>
          </p:cNvPr>
          <p:cNvSpPr txBox="1"/>
          <p:nvPr/>
        </p:nvSpPr>
        <p:spPr>
          <a:xfrm>
            <a:off x="812800" y="431800"/>
            <a:ext cx="508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200" b="1">
                <a:solidFill>
                  <a:srgbClr val="FF4500"/>
                </a:solidFill>
                <a:latin typeface="Aptos" panose="020B0004020202020204" pitchFamily="34" charset="0"/>
              </a:rPr>
              <a:t>EXECUTIVE VERDICT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8BC96-6A1A-4900-EAD3-60669CC9DB6D}"/>
              </a:ext>
            </a:extLst>
          </p:cNvPr>
          <p:cNvSpPr txBox="1"/>
          <p:nvPr/>
        </p:nvSpPr>
        <p:spPr>
          <a:xfrm>
            <a:off x="812800" y="863600"/>
            <a:ext cx="10414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A real prototype. Not yet a launchable trading product.</a:t>
            </a:r>
            <a:endParaRPr lang="en-ZA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5FB01-831E-AACA-C64E-D67BCCCA9BEC}"/>
              </a:ext>
            </a:extLst>
          </p:cNvPr>
          <p:cNvSpPr/>
          <p:nvPr/>
        </p:nvSpPr>
        <p:spPr>
          <a:xfrm>
            <a:off x="812800" y="1803400"/>
            <a:ext cx="1168400" cy="381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C3CD0F-A897-6E23-3D8B-B5028E672339}"/>
              </a:ext>
            </a:extLst>
          </p:cNvPr>
          <p:cNvSpPr txBox="1"/>
          <p:nvPr/>
        </p:nvSpPr>
        <p:spPr>
          <a:xfrm>
            <a:off x="990600" y="2235200"/>
            <a:ext cx="2159000" cy="75918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4600" b="1">
                <a:solidFill>
                  <a:srgbClr val="FFFFFF"/>
                </a:solidFill>
                <a:latin typeface="Aptos" panose="020B0004020202020204" pitchFamily="34" charset="0"/>
              </a:rPr>
              <a:t>45%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CB5B5-1F3D-A44A-D52E-AA6106534157}"/>
              </a:ext>
            </a:extLst>
          </p:cNvPr>
          <p:cNvSpPr txBox="1"/>
          <p:nvPr/>
        </p:nvSpPr>
        <p:spPr>
          <a:xfrm>
            <a:off x="990600" y="3086100"/>
            <a:ext cx="2159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>
                <a:solidFill>
                  <a:srgbClr val="BFBFBF"/>
                </a:solidFill>
                <a:latin typeface="Aptos" panose="020B0004020202020204" pitchFamily="34" charset="0"/>
              </a:rPr>
              <a:t>research 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139F6E-BCA0-F9CF-FC99-87D4F1F09A57}"/>
              </a:ext>
            </a:extLst>
          </p:cNvPr>
          <p:cNvSpPr txBox="1"/>
          <p:nvPr/>
        </p:nvSpPr>
        <p:spPr>
          <a:xfrm>
            <a:off x="3733800" y="2235200"/>
            <a:ext cx="2159000" cy="75918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4600" b="1">
                <a:solidFill>
                  <a:srgbClr val="FF4500"/>
                </a:solidFill>
                <a:latin typeface="Aptos" panose="020B0004020202020204" pitchFamily="34" charset="0"/>
              </a:rPr>
              <a:t>18%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C39F6-1B5F-48D1-ED0C-225292CE5CFB}"/>
              </a:ext>
            </a:extLst>
          </p:cNvPr>
          <p:cNvSpPr txBox="1"/>
          <p:nvPr/>
        </p:nvSpPr>
        <p:spPr>
          <a:xfrm>
            <a:off x="3733800" y="3086100"/>
            <a:ext cx="2159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>
                <a:solidFill>
                  <a:srgbClr val="BFBFBF"/>
                </a:solidFill>
                <a:latin typeface="Aptos" panose="020B0004020202020204" pitchFamily="34" charset="0"/>
              </a:rPr>
              <a:t>invite-only beta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F9716-2440-60C6-2347-8F4F96810FD4}"/>
              </a:ext>
            </a:extLst>
          </p:cNvPr>
          <p:cNvSpPr txBox="1"/>
          <p:nvPr/>
        </p:nvSpPr>
        <p:spPr>
          <a:xfrm>
            <a:off x="6477000" y="2235200"/>
            <a:ext cx="2159000" cy="75918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4600" b="1">
                <a:solidFill>
                  <a:srgbClr val="FFFFFF"/>
                </a:solidFill>
                <a:latin typeface="Aptos" panose="020B0004020202020204" pitchFamily="34" charset="0"/>
              </a:rPr>
              <a:t>10%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5064B-B1EC-894C-7B72-D36CDEFE5395}"/>
              </a:ext>
            </a:extLst>
          </p:cNvPr>
          <p:cNvSpPr txBox="1"/>
          <p:nvPr/>
        </p:nvSpPr>
        <p:spPr>
          <a:xfrm>
            <a:off x="6477000" y="30861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>
                <a:solidFill>
                  <a:srgbClr val="BFBFBF"/>
                </a:solidFill>
                <a:latin typeface="Aptos" panose="020B0004020202020204" pitchFamily="34" charset="0"/>
              </a:rPr>
              <a:t>public paid research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C47F1E-2C0C-5385-A5BE-521E02148F52}"/>
              </a:ext>
            </a:extLst>
          </p:cNvPr>
          <p:cNvSpPr txBox="1"/>
          <p:nvPr/>
        </p:nvSpPr>
        <p:spPr>
          <a:xfrm>
            <a:off x="9347200" y="2235200"/>
            <a:ext cx="1778000" cy="75918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4600" b="1">
                <a:solidFill>
                  <a:srgbClr val="FF4040"/>
                </a:solidFill>
                <a:latin typeface="Aptos" panose="020B0004020202020204" pitchFamily="34" charset="0"/>
              </a:rPr>
              <a:t>5%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0921D3-1197-B861-934C-B011E81A69E6}"/>
              </a:ext>
            </a:extLst>
          </p:cNvPr>
          <p:cNvSpPr txBox="1"/>
          <p:nvPr/>
        </p:nvSpPr>
        <p:spPr>
          <a:xfrm>
            <a:off x="9347200" y="3086100"/>
            <a:ext cx="2159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>
                <a:solidFill>
                  <a:srgbClr val="BFBFBF"/>
                </a:solidFill>
                <a:latin typeface="Aptos" panose="020B0004020202020204" pitchFamily="34" charset="0"/>
              </a:rPr>
              <a:t>customer live trading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92DFC2-8C4C-ACE1-78B9-AC38CEDCD791}"/>
              </a:ext>
            </a:extLst>
          </p:cNvPr>
          <p:cNvSpPr/>
          <p:nvPr/>
        </p:nvSpPr>
        <p:spPr>
          <a:xfrm>
            <a:off x="939800" y="4051300"/>
            <a:ext cx="10541000" cy="254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9C9EFF-3C21-82CD-5FE4-9D24DE360F52}"/>
              </a:ext>
            </a:extLst>
          </p:cNvPr>
          <p:cNvSpPr txBox="1"/>
          <p:nvPr/>
        </p:nvSpPr>
        <p:spPr>
          <a:xfrm>
            <a:off x="990600" y="4521200"/>
            <a:ext cx="4191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4500"/>
                </a:solidFill>
                <a:latin typeface="Aptos" panose="020B0004020202020204" pitchFamily="34" charset="0"/>
              </a:rPr>
              <a:t>Recommended first external release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3C5A84-DA85-ACA9-FE66-2DB55D5AD29F}"/>
              </a:ext>
            </a:extLst>
          </p:cNvPr>
          <p:cNvSpPr txBox="1"/>
          <p:nvPr/>
        </p:nvSpPr>
        <p:spPr>
          <a:xfrm>
            <a:off x="990600" y="4978400"/>
            <a:ext cx="9906000" cy="7899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ptos" panose="020B0004020202020204" pitchFamily="34" charset="0"/>
              </a:rPr>
              <a:t>Oryares Lab: an invite-only, paper-only research workspace with auditable evidence and promotion gates.</a:t>
            </a:r>
            <a:endParaRPr lang="en-ZA" sz="2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61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4834C-990E-8F73-2697-D9AB9ABB0298}"/>
              </a:ext>
            </a:extLst>
          </p:cNvPr>
          <p:cNvSpPr txBox="1"/>
          <p:nvPr/>
        </p:nvSpPr>
        <p:spPr>
          <a:xfrm>
            <a:off x="812800" y="431800"/>
            <a:ext cx="508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200" b="1">
                <a:solidFill>
                  <a:srgbClr val="FF4500"/>
                </a:solidFill>
                <a:latin typeface="Aptos" panose="020B0004020202020204" pitchFamily="34" charset="0"/>
              </a:rPr>
              <a:t>MARKET SIGNAL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594BE-FD82-8D6A-B02F-B7BC91395E11}"/>
              </a:ext>
            </a:extLst>
          </p:cNvPr>
          <p:cNvSpPr txBox="1"/>
          <p:nvPr/>
        </p:nvSpPr>
        <p:spPr>
          <a:xfrm>
            <a:off x="812800" y="863600"/>
            <a:ext cx="10414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AI-to-backtest-to-execute is already a crowded promise.</a:t>
            </a:r>
            <a:endParaRPr lang="en-ZA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FA2C53-6BED-04D2-404A-2CCAF2F0EC67}"/>
              </a:ext>
            </a:extLst>
          </p:cNvPr>
          <p:cNvSpPr/>
          <p:nvPr/>
        </p:nvSpPr>
        <p:spPr>
          <a:xfrm>
            <a:off x="812800" y="1803400"/>
            <a:ext cx="1168400" cy="381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2F699E-D690-1957-BC57-0BD029B8E9A5}"/>
              </a:ext>
            </a:extLst>
          </p:cNvPr>
          <p:cNvSpPr/>
          <p:nvPr/>
        </p:nvSpPr>
        <p:spPr>
          <a:xfrm>
            <a:off x="812800" y="2209800"/>
            <a:ext cx="3302000" cy="34544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C79621-52F6-87CB-B7B5-6C738AE293DA}"/>
              </a:ext>
            </a:extLst>
          </p:cNvPr>
          <p:cNvSpPr txBox="1"/>
          <p:nvPr/>
        </p:nvSpPr>
        <p:spPr>
          <a:xfrm>
            <a:off x="1041400" y="2489200"/>
            <a:ext cx="28448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4500"/>
                </a:solidFill>
                <a:latin typeface="Aptos" panose="020B0004020202020204" pitchFamily="34" charset="0"/>
              </a:rPr>
              <a:t>QUANTCONNECT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24D82-781C-D99B-98C4-326AC739A1B2}"/>
              </a:ext>
            </a:extLst>
          </p:cNvPr>
          <p:cNvSpPr txBox="1"/>
          <p:nvPr/>
        </p:nvSpPr>
        <p:spPr>
          <a:xfrm>
            <a:off x="1041400" y="3073400"/>
            <a:ext cx="28448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Integrated research, realistic backtests, paper and live deployment; deep test and data infrastructure.</a:t>
            </a:r>
            <a:endParaRPr lang="en-ZA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B7481-2731-D02E-A33D-1FC08E76E9AB}"/>
              </a:ext>
            </a:extLst>
          </p:cNvPr>
          <p:cNvSpPr/>
          <p:nvPr/>
        </p:nvSpPr>
        <p:spPr>
          <a:xfrm>
            <a:off x="4521200" y="2209800"/>
            <a:ext cx="3302000" cy="34544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CEE35C-4642-2A0E-938E-B46CDBDA101A}"/>
              </a:ext>
            </a:extLst>
          </p:cNvPr>
          <p:cNvSpPr txBox="1"/>
          <p:nvPr/>
        </p:nvSpPr>
        <p:spPr>
          <a:xfrm>
            <a:off x="4749800" y="2489200"/>
            <a:ext cx="28448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4500"/>
                </a:solidFill>
                <a:latin typeface="Aptos" panose="020B0004020202020204" pitchFamily="34" charset="0"/>
              </a:rPr>
              <a:t>CAPITALISE.AI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67E620-6371-2665-B230-45AC50796A69}"/>
              </a:ext>
            </a:extLst>
          </p:cNvPr>
          <p:cNvSpPr txBox="1"/>
          <p:nvPr/>
        </p:nvSpPr>
        <p:spPr>
          <a:xfrm>
            <a:off x="4749800" y="3073400"/>
            <a:ext cx="28448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Natural-language, no-code automation with backtesting, simulation, monitoring, and alerts.</a:t>
            </a:r>
            <a:endParaRPr lang="en-ZA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0D4B8E-64E4-578E-83B5-727FCB29145F}"/>
              </a:ext>
            </a:extLst>
          </p:cNvPr>
          <p:cNvSpPr/>
          <p:nvPr/>
        </p:nvSpPr>
        <p:spPr>
          <a:xfrm>
            <a:off x="8229600" y="2209800"/>
            <a:ext cx="3302000" cy="34544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A4312-7898-13CC-5994-4795E9E6661B}"/>
              </a:ext>
            </a:extLst>
          </p:cNvPr>
          <p:cNvSpPr txBox="1"/>
          <p:nvPr/>
        </p:nvSpPr>
        <p:spPr>
          <a:xfrm>
            <a:off x="8458200" y="2489200"/>
            <a:ext cx="28448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4500"/>
                </a:solidFill>
                <a:latin typeface="Aptos" panose="020B0004020202020204" pitchFamily="34" charset="0"/>
              </a:rPr>
              <a:t>COMPOSER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D850D-1A74-D695-B994-2B42BC46167C}"/>
              </a:ext>
            </a:extLst>
          </p:cNvPr>
          <p:cNvSpPr txBox="1"/>
          <p:nvPr/>
        </p:nvSpPr>
        <p:spPr>
          <a:xfrm>
            <a:off x="8458200" y="3073400"/>
            <a:ext cx="2844800" cy="12003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AI strategy creation, visual editing, modeled fees/slippage, backtesting, and execution.</a:t>
            </a:r>
            <a:endParaRPr lang="en-ZA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08671A-8CA2-E0B8-5E0A-A0F728A1A957}"/>
              </a:ext>
            </a:extLst>
          </p:cNvPr>
          <p:cNvSpPr txBox="1"/>
          <p:nvPr/>
        </p:nvSpPr>
        <p:spPr>
          <a:xfrm>
            <a:off x="812800" y="6096000"/>
            <a:ext cx="10541000" cy="72840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Implication: do not compete on generic agent automation. Win on evidence, auditability, and disciplined promotion.</a:t>
            </a:r>
            <a:endParaRPr lang="en-ZA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715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CCF59B-534F-FA75-3C4C-8957B1673201}"/>
              </a:ext>
            </a:extLst>
          </p:cNvPr>
          <p:cNvSpPr txBox="1"/>
          <p:nvPr/>
        </p:nvSpPr>
        <p:spPr>
          <a:xfrm>
            <a:off x="812800" y="431800"/>
            <a:ext cx="508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200" b="1">
                <a:solidFill>
                  <a:srgbClr val="FF4500"/>
                </a:solidFill>
                <a:latin typeface="Aptos" panose="020B0004020202020204" pitchFamily="34" charset="0"/>
              </a:rPr>
              <a:t>PRODUCT WEDGE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02457-2E24-64A3-6368-D1C583826C7B}"/>
              </a:ext>
            </a:extLst>
          </p:cNvPr>
          <p:cNvSpPr txBox="1"/>
          <p:nvPr/>
        </p:nvSpPr>
        <p:spPr>
          <a:xfrm>
            <a:off x="812800" y="863600"/>
            <a:ext cx="10414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Make every recommendation earn promotion.</a:t>
            </a:r>
            <a:endParaRPr lang="en-ZA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AB8856-3075-CEB2-C7A3-BC263C89A929}"/>
              </a:ext>
            </a:extLst>
          </p:cNvPr>
          <p:cNvSpPr/>
          <p:nvPr/>
        </p:nvSpPr>
        <p:spPr>
          <a:xfrm>
            <a:off x="812800" y="1803400"/>
            <a:ext cx="1168400" cy="381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2DB7E6-C397-982C-C864-155EB239736A}"/>
              </a:ext>
            </a:extLst>
          </p:cNvPr>
          <p:cNvSpPr/>
          <p:nvPr/>
        </p:nvSpPr>
        <p:spPr>
          <a:xfrm>
            <a:off x="812800" y="2413000"/>
            <a:ext cx="1803400" cy="7366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02476-BF80-C603-FB44-BEFC8CAF936C}"/>
              </a:ext>
            </a:extLst>
          </p:cNvPr>
          <p:cNvSpPr txBox="1"/>
          <p:nvPr/>
        </p:nvSpPr>
        <p:spPr>
          <a:xfrm>
            <a:off x="914400" y="2628900"/>
            <a:ext cx="16002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000" b="1">
                <a:solidFill>
                  <a:srgbClr val="FFFFFF"/>
                </a:solidFill>
                <a:latin typeface="Aptos" panose="020B0004020202020204" pitchFamily="34" charset="0"/>
              </a:rPr>
              <a:t>RESEARCH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9AC90-9D68-83EA-C8C7-AE4310BF37CD}"/>
              </a:ext>
            </a:extLst>
          </p:cNvPr>
          <p:cNvSpPr txBox="1"/>
          <p:nvPr/>
        </p:nvSpPr>
        <p:spPr>
          <a:xfrm>
            <a:off x="2628900" y="2578100"/>
            <a:ext cx="2794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200" b="1">
                <a:solidFill>
                  <a:srgbClr val="BFBFBF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D450C9-F690-6A79-489C-E9A5D698581E}"/>
              </a:ext>
            </a:extLst>
          </p:cNvPr>
          <p:cNvSpPr/>
          <p:nvPr/>
        </p:nvSpPr>
        <p:spPr>
          <a:xfrm>
            <a:off x="2895600" y="2413000"/>
            <a:ext cx="1803400" cy="7366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9C031-F516-9897-C07B-8C26B22E0817}"/>
              </a:ext>
            </a:extLst>
          </p:cNvPr>
          <p:cNvSpPr txBox="1"/>
          <p:nvPr/>
        </p:nvSpPr>
        <p:spPr>
          <a:xfrm>
            <a:off x="2997200" y="2628900"/>
            <a:ext cx="16002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000" b="1">
                <a:solidFill>
                  <a:srgbClr val="FFFFFF"/>
                </a:solidFill>
                <a:latin typeface="Aptos" panose="020B0004020202020204" pitchFamily="34" charset="0"/>
              </a:rPr>
              <a:t>BACKTEST-PASSED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05FD8-9EF0-4DFE-8B4F-DBEEB0FBEE1C}"/>
              </a:ext>
            </a:extLst>
          </p:cNvPr>
          <p:cNvSpPr txBox="1"/>
          <p:nvPr/>
        </p:nvSpPr>
        <p:spPr>
          <a:xfrm>
            <a:off x="4711700" y="2578100"/>
            <a:ext cx="2794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200" b="1">
                <a:solidFill>
                  <a:srgbClr val="BFBFBF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24CC39-C4DA-3C06-3535-A1A953E33D0F}"/>
              </a:ext>
            </a:extLst>
          </p:cNvPr>
          <p:cNvSpPr/>
          <p:nvPr/>
        </p:nvSpPr>
        <p:spPr>
          <a:xfrm>
            <a:off x="4978400" y="2413000"/>
            <a:ext cx="1803400" cy="7366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0B052-8496-24AB-5C95-68DE501439D2}"/>
              </a:ext>
            </a:extLst>
          </p:cNvPr>
          <p:cNvSpPr txBox="1"/>
          <p:nvPr/>
        </p:nvSpPr>
        <p:spPr>
          <a:xfrm>
            <a:off x="5080000" y="2628900"/>
            <a:ext cx="16002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000" b="1">
                <a:solidFill>
                  <a:srgbClr val="FFFFFF"/>
                </a:solidFill>
                <a:latin typeface="Aptos" panose="020B0004020202020204" pitchFamily="34" charset="0"/>
              </a:rPr>
              <a:t>PAPER-QUALIFIED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F8EDDA-798D-B372-0E33-4DDCF4B548E2}"/>
              </a:ext>
            </a:extLst>
          </p:cNvPr>
          <p:cNvSpPr txBox="1"/>
          <p:nvPr/>
        </p:nvSpPr>
        <p:spPr>
          <a:xfrm>
            <a:off x="6794500" y="2578100"/>
            <a:ext cx="2794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200" b="1">
                <a:solidFill>
                  <a:srgbClr val="BFBFBF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F5E706-A02F-C5BD-93C3-E2E56908457E}"/>
              </a:ext>
            </a:extLst>
          </p:cNvPr>
          <p:cNvSpPr/>
          <p:nvPr/>
        </p:nvSpPr>
        <p:spPr>
          <a:xfrm>
            <a:off x="7061200" y="2413000"/>
            <a:ext cx="1803400" cy="7366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9378B-C252-C6ED-A03D-AD32A3876254}"/>
              </a:ext>
            </a:extLst>
          </p:cNvPr>
          <p:cNvSpPr txBox="1"/>
          <p:nvPr/>
        </p:nvSpPr>
        <p:spPr>
          <a:xfrm>
            <a:off x="7162800" y="2628900"/>
            <a:ext cx="16002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000" b="1">
                <a:solidFill>
                  <a:srgbClr val="FFFFFF"/>
                </a:solidFill>
                <a:latin typeface="Aptos" panose="020B0004020202020204" pitchFamily="34" charset="0"/>
              </a:rPr>
              <a:t>DEMO-QUALIFIED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602D1D-8306-E409-7F43-4A99AB26DE37}"/>
              </a:ext>
            </a:extLst>
          </p:cNvPr>
          <p:cNvSpPr txBox="1"/>
          <p:nvPr/>
        </p:nvSpPr>
        <p:spPr>
          <a:xfrm>
            <a:off x="8877300" y="2578100"/>
            <a:ext cx="2794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200" b="1">
                <a:solidFill>
                  <a:srgbClr val="BFBFBF"/>
                </a:solidFill>
                <a:latin typeface="Aptos" panose="020B0004020202020204" pitchFamily="34" charset="0"/>
              </a:rPr>
              <a:t>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341DC1-162C-33BE-8154-8403F1F00865}"/>
              </a:ext>
            </a:extLst>
          </p:cNvPr>
          <p:cNvSpPr/>
          <p:nvPr/>
        </p:nvSpPr>
        <p:spPr>
          <a:xfrm>
            <a:off x="9144000" y="2413000"/>
            <a:ext cx="1803400" cy="7366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2414E0-998A-CF56-E894-0A0C6DD15DD3}"/>
              </a:ext>
            </a:extLst>
          </p:cNvPr>
          <p:cNvSpPr txBox="1"/>
          <p:nvPr/>
        </p:nvSpPr>
        <p:spPr>
          <a:xfrm>
            <a:off x="9245600" y="2628900"/>
            <a:ext cx="16002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000" b="1">
                <a:solidFill>
                  <a:srgbClr val="FFFFFF"/>
                </a:solidFill>
                <a:latin typeface="Aptos" panose="020B0004020202020204" pitchFamily="34" charset="0"/>
              </a:rPr>
              <a:t>LIVE-ELIGIBLE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7FDC91-72D8-3ABE-1E40-8F38C63DBDD1}"/>
              </a:ext>
            </a:extLst>
          </p:cNvPr>
          <p:cNvSpPr txBox="1"/>
          <p:nvPr/>
        </p:nvSpPr>
        <p:spPr>
          <a:xfrm>
            <a:off x="812800" y="3911600"/>
            <a:ext cx="3175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4500"/>
                </a:solidFill>
                <a:latin typeface="Aptos" panose="020B0004020202020204" pitchFamily="34" charset="0"/>
              </a:rPr>
              <a:t>Five fixed markets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3E758E-AD24-DEF9-F618-7096C13262DE}"/>
              </a:ext>
            </a:extLst>
          </p:cNvPr>
          <p:cNvSpPr txBox="1"/>
          <p:nvPr/>
        </p:nvSpPr>
        <p:spPr>
          <a:xfrm>
            <a:off x="812800" y="4318000"/>
            <a:ext cx="4826000" cy="66684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000" b="1">
                <a:solidFill>
                  <a:srgbClr val="FFFFFF"/>
                </a:solidFill>
                <a:latin typeface="Aptos" panose="020B0004020202020204" pitchFamily="34" charset="0"/>
              </a:rPr>
              <a:t>XAU/USD | BTC/USD | EUR/USD | GBP/USD | USD/JPY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F093B-BDE1-A219-8FEA-EC3AA51EF799}"/>
              </a:ext>
            </a:extLst>
          </p:cNvPr>
          <p:cNvSpPr txBox="1"/>
          <p:nvPr/>
        </p:nvSpPr>
        <p:spPr>
          <a:xfrm>
            <a:off x="6426200" y="3911600"/>
            <a:ext cx="3175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4500"/>
                </a:solidFill>
                <a:latin typeface="Aptos" panose="020B0004020202020204" pitchFamily="34" charset="0"/>
              </a:rPr>
              <a:t>Two fixed programs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4017D3-C523-F2D8-9857-AC31A98EEB13}"/>
              </a:ext>
            </a:extLst>
          </p:cNvPr>
          <p:cNvSpPr txBox="1"/>
          <p:nvPr/>
        </p:nvSpPr>
        <p:spPr>
          <a:xfrm>
            <a:off x="6426200" y="4318000"/>
            <a:ext cx="3302000" cy="66684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000" b="1">
                <a:solidFill>
                  <a:srgbClr val="FFFFFF"/>
                </a:solidFill>
                <a:latin typeface="Aptos" panose="020B0004020202020204" pitchFamily="34" charset="0"/>
              </a:rPr>
              <a:t>15m intraday</a:t>
            </a:r>
          </a:p>
          <a:p>
            <a:r>
              <a:rPr lang="en-ZA" sz="2000" b="1">
                <a:solidFill>
                  <a:srgbClr val="FFFFFF"/>
                </a:solidFill>
                <a:latin typeface="Aptos" panose="020B0004020202020204" pitchFamily="34" charset="0"/>
              </a:rPr>
              <a:t>1h swing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B0893B-C0F8-528D-1825-4406B755898B}"/>
              </a:ext>
            </a:extLst>
          </p:cNvPr>
          <p:cNvSpPr txBox="1"/>
          <p:nvPr/>
        </p:nvSpPr>
        <p:spPr>
          <a:xfrm>
            <a:off x="812800" y="5867400"/>
            <a:ext cx="10414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>
                <a:solidFill>
                  <a:srgbClr val="BFBFBF"/>
                </a:solidFill>
                <a:latin typeface="Aptos" panose="020B0004020202020204" pitchFamily="34" charset="0"/>
              </a:rPr>
              <a:t>No personalized advice, profit promises, copy trading, custody, or live execution in the first external release.</a:t>
            </a:r>
            <a:endParaRPr lang="en-ZA">
              <a:solidFill>
                <a:srgbClr val="BFBFB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2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FAE5C-E40B-9CC5-24A8-466E147E555A}"/>
              </a:ext>
            </a:extLst>
          </p:cNvPr>
          <p:cNvSpPr txBox="1"/>
          <p:nvPr/>
        </p:nvSpPr>
        <p:spPr>
          <a:xfrm>
            <a:off x="812800" y="431800"/>
            <a:ext cx="508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200" b="1">
                <a:solidFill>
                  <a:srgbClr val="FF4500"/>
                </a:solidFill>
                <a:latin typeface="Aptos" panose="020B0004020202020204" pitchFamily="34" charset="0"/>
              </a:rPr>
              <a:t>READINESS GAP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9E957-6596-1EA7-FC18-A19E4BD79672}"/>
              </a:ext>
            </a:extLst>
          </p:cNvPr>
          <p:cNvSpPr txBox="1"/>
          <p:nvPr/>
        </p:nvSpPr>
        <p:spPr>
          <a:xfrm>
            <a:off x="812800" y="863600"/>
            <a:ext cx="10414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Most of the remaining work is safety, evidence, and operations.</a:t>
            </a:r>
            <a:endParaRPr lang="en-ZA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3001E6-0048-C205-E8FF-75E39A4811CC}"/>
              </a:ext>
            </a:extLst>
          </p:cNvPr>
          <p:cNvSpPr/>
          <p:nvPr/>
        </p:nvSpPr>
        <p:spPr>
          <a:xfrm>
            <a:off x="812800" y="1803400"/>
            <a:ext cx="1168400" cy="381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59EC2-040F-E6E4-5EDD-5798B01F4401}"/>
              </a:ext>
            </a:extLst>
          </p:cNvPr>
          <p:cNvSpPr txBox="1"/>
          <p:nvPr/>
        </p:nvSpPr>
        <p:spPr>
          <a:xfrm>
            <a:off x="812800" y="2235200"/>
            <a:ext cx="30226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 b="1">
                <a:solidFill>
                  <a:srgbClr val="FFFFFF"/>
                </a:solidFill>
                <a:latin typeface="Aptos" panose="020B0004020202020204" pitchFamily="34" charset="0"/>
              </a:rPr>
              <a:t>Safety &amp; execution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EA589F-CE06-499F-4090-9DB8A6D7A71C}"/>
              </a:ext>
            </a:extLst>
          </p:cNvPr>
          <p:cNvSpPr/>
          <p:nvPr/>
        </p:nvSpPr>
        <p:spPr>
          <a:xfrm>
            <a:off x="3937000" y="2273300"/>
            <a:ext cx="6350000" cy="2286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72F3FF-01B4-C0FB-0C64-C694FABBCDE6}"/>
              </a:ext>
            </a:extLst>
          </p:cNvPr>
          <p:cNvSpPr/>
          <p:nvPr/>
        </p:nvSpPr>
        <p:spPr>
          <a:xfrm>
            <a:off x="3937000" y="2273300"/>
            <a:ext cx="1587500" cy="2286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BB7F65-8277-0D90-68BC-8D4016B6212A}"/>
              </a:ext>
            </a:extLst>
          </p:cNvPr>
          <p:cNvSpPr txBox="1"/>
          <p:nvPr/>
        </p:nvSpPr>
        <p:spPr>
          <a:xfrm>
            <a:off x="10490200" y="2197100"/>
            <a:ext cx="762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BFBFBF"/>
                </a:solidFill>
                <a:latin typeface="Aptos" panose="020B0004020202020204" pitchFamily="34" charset="0"/>
              </a:rPr>
              <a:t>25%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E4262-F168-8F43-3D70-2651218744C7}"/>
              </a:ext>
            </a:extLst>
          </p:cNvPr>
          <p:cNvSpPr txBox="1"/>
          <p:nvPr/>
        </p:nvSpPr>
        <p:spPr>
          <a:xfrm>
            <a:off x="812800" y="3048000"/>
            <a:ext cx="30226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 b="1">
                <a:solidFill>
                  <a:srgbClr val="FFFFFF"/>
                </a:solidFill>
                <a:latin typeface="Aptos" panose="020B0004020202020204" pitchFamily="34" charset="0"/>
              </a:rPr>
              <a:t>Evidence &amp; evaluation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C46B1A-964F-1CF9-EAC7-12D66674C861}"/>
              </a:ext>
            </a:extLst>
          </p:cNvPr>
          <p:cNvSpPr/>
          <p:nvPr/>
        </p:nvSpPr>
        <p:spPr>
          <a:xfrm>
            <a:off x="3937000" y="3086100"/>
            <a:ext cx="6350000" cy="2286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D24F22-B27D-0576-8887-7A873148FAFF}"/>
              </a:ext>
            </a:extLst>
          </p:cNvPr>
          <p:cNvSpPr/>
          <p:nvPr/>
        </p:nvSpPr>
        <p:spPr>
          <a:xfrm>
            <a:off x="3937000" y="3086100"/>
            <a:ext cx="952500" cy="2286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C058DB-1575-3129-68A6-9F165A2D875A}"/>
              </a:ext>
            </a:extLst>
          </p:cNvPr>
          <p:cNvSpPr txBox="1"/>
          <p:nvPr/>
        </p:nvSpPr>
        <p:spPr>
          <a:xfrm>
            <a:off x="10490200" y="3009900"/>
            <a:ext cx="762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BFBFBF"/>
                </a:solidFill>
                <a:latin typeface="Aptos" panose="020B0004020202020204" pitchFamily="34" charset="0"/>
              </a:rPr>
              <a:t>15%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0A273-A807-3A51-5120-151F3536935B}"/>
              </a:ext>
            </a:extLst>
          </p:cNvPr>
          <p:cNvSpPr txBox="1"/>
          <p:nvPr/>
        </p:nvSpPr>
        <p:spPr>
          <a:xfrm>
            <a:off x="812800" y="3860800"/>
            <a:ext cx="30226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 b="1">
                <a:solidFill>
                  <a:srgbClr val="FFFFFF"/>
                </a:solidFill>
                <a:latin typeface="Aptos" panose="020B0004020202020204" pitchFamily="34" charset="0"/>
              </a:rPr>
              <a:t>Product surface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FB5E89-E66F-F6ED-21B6-FC03B41D7B6F}"/>
              </a:ext>
            </a:extLst>
          </p:cNvPr>
          <p:cNvSpPr/>
          <p:nvPr/>
        </p:nvSpPr>
        <p:spPr>
          <a:xfrm>
            <a:off x="3937000" y="3898900"/>
            <a:ext cx="6350000" cy="2286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4695BC-73C0-593C-C52B-1BBFA21431AD}"/>
              </a:ext>
            </a:extLst>
          </p:cNvPr>
          <p:cNvSpPr/>
          <p:nvPr/>
        </p:nvSpPr>
        <p:spPr>
          <a:xfrm>
            <a:off x="3937000" y="3898900"/>
            <a:ext cx="317500" cy="2286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025ECE-A7AC-BF7D-2942-E42A55FC5CD3}"/>
              </a:ext>
            </a:extLst>
          </p:cNvPr>
          <p:cNvSpPr txBox="1"/>
          <p:nvPr/>
        </p:nvSpPr>
        <p:spPr>
          <a:xfrm>
            <a:off x="10490200" y="3822700"/>
            <a:ext cx="762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BFBFBF"/>
                </a:solidFill>
                <a:latin typeface="Aptos" panose="020B0004020202020204" pitchFamily="34" charset="0"/>
              </a:rPr>
              <a:t>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205C3-5475-64C0-19F1-D59452A9D679}"/>
              </a:ext>
            </a:extLst>
          </p:cNvPr>
          <p:cNvSpPr txBox="1"/>
          <p:nvPr/>
        </p:nvSpPr>
        <p:spPr>
          <a:xfrm>
            <a:off x="812800" y="4673600"/>
            <a:ext cx="30226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 b="1">
                <a:solidFill>
                  <a:srgbClr val="FFFFFF"/>
                </a:solidFill>
                <a:latin typeface="Aptos" panose="020B0004020202020204" pitchFamily="34" charset="0"/>
              </a:rPr>
              <a:t>Deployment &amp; operations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A4F4CA-05F6-12AC-5BB9-8DA5BF923F17}"/>
              </a:ext>
            </a:extLst>
          </p:cNvPr>
          <p:cNvSpPr/>
          <p:nvPr/>
        </p:nvSpPr>
        <p:spPr>
          <a:xfrm>
            <a:off x="3937000" y="4711700"/>
            <a:ext cx="6350000" cy="2286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24652E-D180-D733-E876-CCF3B2558D8D}"/>
              </a:ext>
            </a:extLst>
          </p:cNvPr>
          <p:cNvSpPr/>
          <p:nvPr/>
        </p:nvSpPr>
        <p:spPr>
          <a:xfrm>
            <a:off x="3937000" y="4711700"/>
            <a:ext cx="317500" cy="2286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0445B2-A0C6-E344-6C5D-C9FBA2CC7688}"/>
              </a:ext>
            </a:extLst>
          </p:cNvPr>
          <p:cNvSpPr txBox="1"/>
          <p:nvPr/>
        </p:nvSpPr>
        <p:spPr>
          <a:xfrm>
            <a:off x="10490200" y="4635500"/>
            <a:ext cx="762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BFBFBF"/>
                </a:solidFill>
                <a:latin typeface="Aptos" panose="020B0004020202020204" pitchFamily="34" charset="0"/>
              </a:rPr>
              <a:t>5%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EAED31-C878-28F9-968C-095385C52255}"/>
              </a:ext>
            </a:extLst>
          </p:cNvPr>
          <p:cNvSpPr txBox="1"/>
          <p:nvPr/>
        </p:nvSpPr>
        <p:spPr>
          <a:xfrm>
            <a:off x="812800" y="5486400"/>
            <a:ext cx="30226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500" b="1">
                <a:solidFill>
                  <a:srgbClr val="FFFFFF"/>
                </a:solidFill>
                <a:latin typeface="Aptos" panose="020B0004020202020204" pitchFamily="34" charset="0"/>
              </a:rPr>
              <a:t>Privacy / legal / payments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2355F0-B3D9-D80C-5C6B-A01EF4E75F58}"/>
              </a:ext>
            </a:extLst>
          </p:cNvPr>
          <p:cNvSpPr/>
          <p:nvPr/>
        </p:nvSpPr>
        <p:spPr>
          <a:xfrm>
            <a:off x="3937000" y="5524500"/>
            <a:ext cx="6350000" cy="2286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CD4FC2-0FA6-9B05-6D85-05D5965E9FBF}"/>
              </a:ext>
            </a:extLst>
          </p:cNvPr>
          <p:cNvSpPr/>
          <p:nvPr/>
        </p:nvSpPr>
        <p:spPr>
          <a:xfrm>
            <a:off x="3937000" y="5524500"/>
            <a:ext cx="317500" cy="2286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C1BE69-9855-DD1D-A7F8-958056770194}"/>
              </a:ext>
            </a:extLst>
          </p:cNvPr>
          <p:cNvSpPr txBox="1"/>
          <p:nvPr/>
        </p:nvSpPr>
        <p:spPr>
          <a:xfrm>
            <a:off x="10490200" y="5448300"/>
            <a:ext cx="762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BFBFBF"/>
                </a:solidFill>
                <a:latin typeface="Aptos" panose="020B0004020202020204" pitchFamily="34" charset="0"/>
              </a:rPr>
              <a:t>5%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B7DFC6-0602-20E7-B53B-4C9FD3B2EE0E}"/>
              </a:ext>
            </a:extLst>
          </p:cNvPr>
          <p:cNvSpPr txBox="1"/>
          <p:nvPr/>
        </p:nvSpPr>
        <p:spPr>
          <a:xfrm>
            <a:off x="812800" y="6477000"/>
            <a:ext cx="10414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200">
                <a:solidFill>
                  <a:srgbClr val="808080"/>
                </a:solidFill>
                <a:latin typeface="Aptos" panose="020B0004020202020204" pitchFamily="34" charset="0"/>
              </a:rPr>
              <a:t>Category scores are evidence-based planning estimates, not test coverage.</a:t>
            </a:r>
            <a:endParaRPr lang="en-ZA" sz="12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215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47B4B6-5231-9B92-42BC-0D74EAEA038D}"/>
              </a:ext>
            </a:extLst>
          </p:cNvPr>
          <p:cNvSpPr txBox="1"/>
          <p:nvPr/>
        </p:nvSpPr>
        <p:spPr>
          <a:xfrm>
            <a:off x="812800" y="431800"/>
            <a:ext cx="508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200" b="1">
                <a:solidFill>
                  <a:srgbClr val="FF4500"/>
                </a:solidFill>
                <a:latin typeface="Aptos" panose="020B0004020202020204" pitchFamily="34" charset="0"/>
              </a:rPr>
              <a:t>SYSTEM DIRECTION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2FAE1-4ECA-26CC-6CE7-2B12C76C15A0}"/>
              </a:ext>
            </a:extLst>
          </p:cNvPr>
          <p:cNvSpPr txBox="1"/>
          <p:nvPr/>
        </p:nvSpPr>
        <p:spPr>
          <a:xfrm>
            <a:off x="812800" y="863600"/>
            <a:ext cx="10414000" cy="91307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Cloud control plane. Quarantined Windows execution connector.</a:t>
            </a:r>
            <a:endParaRPr lang="en-ZA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38047F-FE41-C6D4-8B3F-AE54BFD97E9A}"/>
              </a:ext>
            </a:extLst>
          </p:cNvPr>
          <p:cNvSpPr/>
          <p:nvPr/>
        </p:nvSpPr>
        <p:spPr>
          <a:xfrm>
            <a:off x="812800" y="1803400"/>
            <a:ext cx="1168400" cy="381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176F13-8E8D-96A5-25C6-8523427DA6F8}"/>
              </a:ext>
            </a:extLst>
          </p:cNvPr>
          <p:cNvSpPr/>
          <p:nvPr/>
        </p:nvSpPr>
        <p:spPr>
          <a:xfrm>
            <a:off x="812800" y="2413000"/>
            <a:ext cx="1955800" cy="8890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3607FC-2DA6-5B9B-C7F5-6377A91E74A2}"/>
              </a:ext>
            </a:extLst>
          </p:cNvPr>
          <p:cNvSpPr txBox="1"/>
          <p:nvPr/>
        </p:nvSpPr>
        <p:spPr>
          <a:xfrm>
            <a:off x="939800" y="2590800"/>
            <a:ext cx="17018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Market data +</a:t>
            </a:r>
          </a:p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quality gates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111C5E-4E1B-71B1-A064-B8696863C00A}"/>
              </a:ext>
            </a:extLst>
          </p:cNvPr>
          <p:cNvSpPr/>
          <p:nvPr/>
        </p:nvSpPr>
        <p:spPr>
          <a:xfrm>
            <a:off x="3175000" y="2413000"/>
            <a:ext cx="1955800" cy="8890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7534E-B0E6-B761-CADA-3FB3AF029A1B}"/>
              </a:ext>
            </a:extLst>
          </p:cNvPr>
          <p:cNvSpPr txBox="1"/>
          <p:nvPr/>
        </p:nvSpPr>
        <p:spPr>
          <a:xfrm>
            <a:off x="3302000" y="2590800"/>
            <a:ext cx="17018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Deterministic</a:t>
            </a:r>
          </a:p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strategy engine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8E6E35-EDE5-3073-067E-4FFEB7AF1EDE}"/>
              </a:ext>
            </a:extLst>
          </p:cNvPr>
          <p:cNvSpPr/>
          <p:nvPr/>
        </p:nvSpPr>
        <p:spPr>
          <a:xfrm>
            <a:off x="5537200" y="2413000"/>
            <a:ext cx="1955800" cy="8890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D5E7F-7186-12BE-BA7E-EA733DC282BA}"/>
              </a:ext>
            </a:extLst>
          </p:cNvPr>
          <p:cNvSpPr txBox="1"/>
          <p:nvPr/>
        </p:nvSpPr>
        <p:spPr>
          <a:xfrm>
            <a:off x="5664200" y="2590800"/>
            <a:ext cx="17018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Schema-bound</a:t>
            </a:r>
          </a:p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LLM analysts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0FF07B-CD58-5649-6CB0-D7FB4451BE47}"/>
              </a:ext>
            </a:extLst>
          </p:cNvPr>
          <p:cNvSpPr/>
          <p:nvPr/>
        </p:nvSpPr>
        <p:spPr>
          <a:xfrm>
            <a:off x="7899400" y="2413000"/>
            <a:ext cx="1955800" cy="8890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FE2239-9244-7D44-C909-B6256C5D22C7}"/>
              </a:ext>
            </a:extLst>
          </p:cNvPr>
          <p:cNvSpPr txBox="1"/>
          <p:nvPr/>
        </p:nvSpPr>
        <p:spPr>
          <a:xfrm>
            <a:off x="8026400" y="2590800"/>
            <a:ext cx="17018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Deterministic</a:t>
            </a:r>
          </a:p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risk engine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7CC51-12E7-28D7-77A6-09F4830EACA7}"/>
              </a:ext>
            </a:extLst>
          </p:cNvPr>
          <p:cNvSpPr/>
          <p:nvPr/>
        </p:nvSpPr>
        <p:spPr>
          <a:xfrm>
            <a:off x="3175000" y="4292600"/>
            <a:ext cx="1955800" cy="8890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C41876-B22B-87AB-21A7-9E95F1E3B840}"/>
              </a:ext>
            </a:extLst>
          </p:cNvPr>
          <p:cNvSpPr txBox="1"/>
          <p:nvPr/>
        </p:nvSpPr>
        <p:spPr>
          <a:xfrm>
            <a:off x="3302000" y="4470400"/>
            <a:ext cx="17018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Paper broker +</a:t>
            </a:r>
          </a:p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complete ledger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80146-7A66-3D7B-6AD8-BFF37ACA3501}"/>
              </a:ext>
            </a:extLst>
          </p:cNvPr>
          <p:cNvSpPr/>
          <p:nvPr/>
        </p:nvSpPr>
        <p:spPr>
          <a:xfrm>
            <a:off x="7899400" y="4292600"/>
            <a:ext cx="1955800" cy="8890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3AFBBC-1CD6-D6C6-3367-73BA13720EAC}"/>
              </a:ext>
            </a:extLst>
          </p:cNvPr>
          <p:cNvSpPr txBox="1"/>
          <p:nvPr/>
        </p:nvSpPr>
        <p:spPr>
          <a:xfrm>
            <a:off x="8026400" y="4470400"/>
            <a:ext cx="17018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Windows MT5</a:t>
            </a:r>
          </a:p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connector (off)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8EE4C4-80F8-B102-E188-72495301C332}"/>
              </a:ext>
            </a:extLst>
          </p:cNvPr>
          <p:cNvSpPr/>
          <p:nvPr/>
        </p:nvSpPr>
        <p:spPr>
          <a:xfrm>
            <a:off x="4749800" y="5765800"/>
            <a:ext cx="1955800" cy="889000"/>
          </a:xfrm>
          <a:prstGeom prst="rect">
            <a:avLst/>
          </a:prstGeom>
          <a:solidFill>
            <a:srgbClr val="18181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C715D8-98B9-BE35-E7AD-33A59AD3094C}"/>
              </a:ext>
            </a:extLst>
          </p:cNvPr>
          <p:cNvSpPr txBox="1"/>
          <p:nvPr/>
        </p:nvSpPr>
        <p:spPr>
          <a:xfrm>
            <a:off x="4876800" y="5943600"/>
            <a:ext cx="17018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 b="1">
                <a:solidFill>
                  <a:srgbClr val="FFFFFF"/>
                </a:solidFill>
                <a:latin typeface="Aptos" panose="020B0004020202020204" pitchFamily="34" charset="0"/>
              </a:rPr>
              <a:t>Audit store + API + dashboard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DACEE8-8F8E-DE1C-BBBD-1A7801CDBBF5}"/>
              </a:ext>
            </a:extLst>
          </p:cNvPr>
          <p:cNvCxnSpPr/>
          <p:nvPr/>
        </p:nvCxnSpPr>
        <p:spPr>
          <a:xfrm>
            <a:off x="2768600" y="2781300"/>
            <a:ext cx="381000" cy="304800"/>
          </a:xfrm>
          <a:prstGeom prst="line">
            <a:avLst/>
          </a:prstGeom>
          <a:ln w="25400">
            <a:solidFill>
              <a:srgbClr val="FF45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701AB6-735E-DB7B-FF24-AF3EC369E726}"/>
              </a:ext>
            </a:extLst>
          </p:cNvPr>
          <p:cNvCxnSpPr/>
          <p:nvPr/>
        </p:nvCxnSpPr>
        <p:spPr>
          <a:xfrm>
            <a:off x="5130800" y="2781300"/>
            <a:ext cx="381000" cy="304800"/>
          </a:xfrm>
          <a:prstGeom prst="line">
            <a:avLst/>
          </a:prstGeom>
          <a:ln w="25400">
            <a:solidFill>
              <a:srgbClr val="FF45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5B50B3-7B33-1251-39BE-546A3A091C47}"/>
              </a:ext>
            </a:extLst>
          </p:cNvPr>
          <p:cNvCxnSpPr/>
          <p:nvPr/>
        </p:nvCxnSpPr>
        <p:spPr>
          <a:xfrm>
            <a:off x="7493000" y="2781300"/>
            <a:ext cx="381000" cy="304800"/>
          </a:xfrm>
          <a:prstGeom prst="line">
            <a:avLst/>
          </a:prstGeom>
          <a:ln w="25400">
            <a:solidFill>
              <a:srgbClr val="FF45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45A9E5-466B-095E-4AEA-87852617E387}"/>
              </a:ext>
            </a:extLst>
          </p:cNvPr>
          <p:cNvCxnSpPr/>
          <p:nvPr/>
        </p:nvCxnSpPr>
        <p:spPr>
          <a:xfrm>
            <a:off x="4089400" y="3429000"/>
            <a:ext cx="0" cy="812800"/>
          </a:xfrm>
          <a:prstGeom prst="line">
            <a:avLst/>
          </a:prstGeom>
          <a:ln w="25400">
            <a:solidFill>
              <a:srgbClr val="FF45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73F70C-B7E1-21B2-4C03-5C93D9CA8FDF}"/>
              </a:ext>
            </a:extLst>
          </p:cNvPr>
          <p:cNvCxnSpPr/>
          <p:nvPr/>
        </p:nvCxnSpPr>
        <p:spPr>
          <a:xfrm>
            <a:off x="8813800" y="3429000"/>
            <a:ext cx="0" cy="812800"/>
          </a:xfrm>
          <a:prstGeom prst="line">
            <a:avLst/>
          </a:prstGeom>
          <a:ln w="25400">
            <a:solidFill>
              <a:srgbClr val="FF45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203E3D-2B8F-053B-75D7-76F015C5564A}"/>
              </a:ext>
            </a:extLst>
          </p:cNvPr>
          <p:cNvCxnSpPr/>
          <p:nvPr/>
        </p:nvCxnSpPr>
        <p:spPr>
          <a:xfrm>
            <a:off x="4191000" y="5232400"/>
            <a:ext cx="1143000" cy="660400"/>
          </a:xfrm>
          <a:prstGeom prst="line">
            <a:avLst/>
          </a:prstGeom>
          <a:ln w="25400">
            <a:solidFill>
              <a:srgbClr val="FF45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E2FD07-5EB0-5F38-BD66-B4CA9AE81AC2}"/>
              </a:ext>
            </a:extLst>
          </p:cNvPr>
          <p:cNvCxnSpPr/>
          <p:nvPr/>
        </p:nvCxnSpPr>
        <p:spPr>
          <a:xfrm flipH="1">
            <a:off x="6807200" y="5232400"/>
            <a:ext cx="2006600" cy="660400"/>
          </a:xfrm>
          <a:prstGeom prst="line">
            <a:avLst/>
          </a:prstGeom>
          <a:ln w="25400">
            <a:solidFill>
              <a:srgbClr val="FF45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62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97B223-6288-B033-A590-4EF446781015}"/>
              </a:ext>
            </a:extLst>
          </p:cNvPr>
          <p:cNvSpPr txBox="1"/>
          <p:nvPr/>
        </p:nvSpPr>
        <p:spPr>
          <a:xfrm>
            <a:off x="812800" y="431800"/>
            <a:ext cx="508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200" b="1">
                <a:solidFill>
                  <a:srgbClr val="FF4500"/>
                </a:solidFill>
                <a:latin typeface="Aptos" panose="020B0004020202020204" pitchFamily="34" charset="0"/>
              </a:rPr>
              <a:t>RELEASE GATES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E15BE-FEA4-C5E5-7CF8-895103F3F79D}"/>
              </a:ext>
            </a:extLst>
          </p:cNvPr>
          <p:cNvSpPr txBox="1"/>
          <p:nvPr/>
        </p:nvSpPr>
        <p:spPr>
          <a:xfrm>
            <a:off x="812800" y="863600"/>
            <a:ext cx="10414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ptos" panose="020B0004020202020204" pitchFamily="34" charset="0"/>
              </a:rPr>
              <a:t>A six-gate path to market; live is a separate approval.</a:t>
            </a:r>
            <a:endParaRPr lang="en-ZA" sz="2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7F9F50-BEF3-197E-71BD-3A71696EEF21}"/>
              </a:ext>
            </a:extLst>
          </p:cNvPr>
          <p:cNvSpPr/>
          <p:nvPr/>
        </p:nvSpPr>
        <p:spPr>
          <a:xfrm>
            <a:off x="812800" y="1803400"/>
            <a:ext cx="1168400" cy="381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48CBC-5340-656B-3ABB-800AD6B3142C}"/>
              </a:ext>
            </a:extLst>
          </p:cNvPr>
          <p:cNvSpPr txBox="1"/>
          <p:nvPr/>
        </p:nvSpPr>
        <p:spPr>
          <a:xfrm>
            <a:off x="838200" y="2032000"/>
            <a:ext cx="4826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000" b="1">
                <a:solidFill>
                  <a:srgbClr val="FF4500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6807D-7440-7302-856D-7326A6FB1326}"/>
              </a:ext>
            </a:extLst>
          </p:cNvPr>
          <p:cNvSpPr txBox="1"/>
          <p:nvPr/>
        </p:nvSpPr>
        <p:spPr>
          <a:xfrm>
            <a:off x="1498600" y="2032000"/>
            <a:ext cx="279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600" b="1">
                <a:solidFill>
                  <a:srgbClr val="FFFFFF"/>
                </a:solidFill>
                <a:latin typeface="Aptos" panose="020B0004020202020204" pitchFamily="34" charset="0"/>
              </a:rPr>
              <a:t>Safety baseline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B135A-D70E-E2B9-2294-21AC395C74F4}"/>
              </a:ext>
            </a:extLst>
          </p:cNvPr>
          <p:cNvSpPr txBox="1"/>
          <p:nvPr/>
        </p:nvSpPr>
        <p:spPr>
          <a:xfrm>
            <a:off x="4470400" y="2032000"/>
            <a:ext cx="6477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BFBFBF"/>
                </a:solidFill>
                <a:latin typeface="Aptos" panose="020B0004020202020204" pitchFamily="34" charset="0"/>
              </a:rPr>
              <a:t>Live unreachable; risk invariants green</a:t>
            </a:r>
            <a:endParaRPr lang="en-ZA" sz="1400">
              <a:solidFill>
                <a:srgbClr val="BFBFB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FDA122-72D7-3438-CAE6-89670936B0BF}"/>
              </a:ext>
            </a:extLst>
          </p:cNvPr>
          <p:cNvSpPr/>
          <p:nvPr/>
        </p:nvSpPr>
        <p:spPr>
          <a:xfrm>
            <a:off x="1054100" y="2514600"/>
            <a:ext cx="25400" cy="2540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512F42-FB26-A7B8-EB38-3410A0954FD1}"/>
              </a:ext>
            </a:extLst>
          </p:cNvPr>
          <p:cNvSpPr txBox="1"/>
          <p:nvPr/>
        </p:nvSpPr>
        <p:spPr>
          <a:xfrm>
            <a:off x="838200" y="2794000"/>
            <a:ext cx="4826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000" b="1">
                <a:solidFill>
                  <a:srgbClr val="FF4500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67D114-DE77-09A8-8B3E-D3B37F70CA9E}"/>
              </a:ext>
            </a:extLst>
          </p:cNvPr>
          <p:cNvSpPr txBox="1"/>
          <p:nvPr/>
        </p:nvSpPr>
        <p:spPr>
          <a:xfrm>
            <a:off x="1498600" y="2794000"/>
            <a:ext cx="279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600" b="1">
                <a:solidFill>
                  <a:srgbClr val="FFFFFF"/>
                </a:solidFill>
                <a:latin typeface="Aptos" panose="020B0004020202020204" pitchFamily="34" charset="0"/>
              </a:rPr>
              <a:t>Reproducible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447754-7C37-CEF4-19D2-66DC90A9E3D5}"/>
              </a:ext>
            </a:extLst>
          </p:cNvPr>
          <p:cNvSpPr txBox="1"/>
          <p:nvPr/>
        </p:nvSpPr>
        <p:spPr>
          <a:xfrm>
            <a:off x="4470400" y="2794000"/>
            <a:ext cx="6477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>
                <a:solidFill>
                  <a:srgbClr val="BFBFBF"/>
                </a:solidFill>
                <a:latin typeface="Aptos" panose="020B0004020202020204" pitchFamily="34" charset="0"/>
              </a:rPr>
              <a:t>Canonical data, ledger, backtest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CC2DC1-0997-F8A8-317C-E2B1B3A1335F}"/>
              </a:ext>
            </a:extLst>
          </p:cNvPr>
          <p:cNvSpPr/>
          <p:nvPr/>
        </p:nvSpPr>
        <p:spPr>
          <a:xfrm>
            <a:off x="1054100" y="3276600"/>
            <a:ext cx="25400" cy="2540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65DAC5-8DAB-5A0A-2471-EF4A1301174C}"/>
              </a:ext>
            </a:extLst>
          </p:cNvPr>
          <p:cNvSpPr txBox="1"/>
          <p:nvPr/>
        </p:nvSpPr>
        <p:spPr>
          <a:xfrm>
            <a:off x="838200" y="3556000"/>
            <a:ext cx="4826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000" b="1">
                <a:solidFill>
                  <a:srgbClr val="FF4500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B193DE-57AC-BF50-6A3E-70F818B62F04}"/>
              </a:ext>
            </a:extLst>
          </p:cNvPr>
          <p:cNvSpPr txBox="1"/>
          <p:nvPr/>
        </p:nvSpPr>
        <p:spPr>
          <a:xfrm>
            <a:off x="1498600" y="3556000"/>
            <a:ext cx="279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600" b="1">
                <a:solidFill>
                  <a:srgbClr val="FFFFFF"/>
                </a:solidFill>
                <a:latin typeface="Aptos" panose="020B0004020202020204" pitchFamily="34" charset="0"/>
              </a:rPr>
              <a:t>Paper alpha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2A019-A761-FB09-8C4A-82D42D10D33E}"/>
              </a:ext>
            </a:extLst>
          </p:cNvPr>
          <p:cNvSpPr txBox="1"/>
          <p:nvPr/>
        </p:nvSpPr>
        <p:spPr>
          <a:xfrm>
            <a:off x="4470400" y="3556000"/>
            <a:ext cx="6477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400">
                <a:solidFill>
                  <a:srgbClr val="BFBFBF"/>
                </a:solidFill>
                <a:latin typeface="Aptos" panose="020B0004020202020204" pitchFamily="34" charset="0"/>
              </a:rPr>
              <a:t>Deterministic fills and reconciliation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5E66D4-EA54-32D7-DB3A-0477E83F956E}"/>
              </a:ext>
            </a:extLst>
          </p:cNvPr>
          <p:cNvSpPr/>
          <p:nvPr/>
        </p:nvSpPr>
        <p:spPr>
          <a:xfrm>
            <a:off x="1054100" y="4038600"/>
            <a:ext cx="25400" cy="2540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C3A0B9-D761-E29A-C4AE-450281B858DC}"/>
              </a:ext>
            </a:extLst>
          </p:cNvPr>
          <p:cNvSpPr txBox="1"/>
          <p:nvPr/>
        </p:nvSpPr>
        <p:spPr>
          <a:xfrm>
            <a:off x="838200" y="4318000"/>
            <a:ext cx="4826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000" b="1">
                <a:solidFill>
                  <a:srgbClr val="FF4500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3D3BBC-C2B4-DF12-2E41-73F836E14006}"/>
              </a:ext>
            </a:extLst>
          </p:cNvPr>
          <p:cNvSpPr txBox="1"/>
          <p:nvPr/>
        </p:nvSpPr>
        <p:spPr>
          <a:xfrm>
            <a:off x="1498600" y="4318000"/>
            <a:ext cx="279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600" b="1">
                <a:solidFill>
                  <a:srgbClr val="FFFFFF"/>
                </a:solidFill>
                <a:latin typeface="Aptos" panose="020B0004020202020204" pitchFamily="34" charset="0"/>
              </a:rPr>
              <a:t>Invite-only beta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39E3A7-14CC-E76F-9E73-DF860677AE67}"/>
              </a:ext>
            </a:extLst>
          </p:cNvPr>
          <p:cNvSpPr txBox="1"/>
          <p:nvPr/>
        </p:nvSpPr>
        <p:spPr>
          <a:xfrm>
            <a:off x="4470400" y="4318000"/>
            <a:ext cx="6477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it-IT" sz="1400">
                <a:solidFill>
                  <a:srgbClr val="BFBFBF"/>
                </a:solidFill>
                <a:latin typeface="Aptos" panose="020B0004020202020204" pitchFamily="34" charset="0"/>
              </a:rPr>
              <a:t>Auth, audit, privacy, E2E, CI/CD</a:t>
            </a:r>
            <a:endParaRPr lang="en-ZA" sz="1400">
              <a:solidFill>
                <a:srgbClr val="BFBFB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7140A4-625C-A133-F41C-AB2718D6B92D}"/>
              </a:ext>
            </a:extLst>
          </p:cNvPr>
          <p:cNvSpPr/>
          <p:nvPr/>
        </p:nvSpPr>
        <p:spPr>
          <a:xfrm>
            <a:off x="1054100" y="4800600"/>
            <a:ext cx="25400" cy="2540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36E4CB-A5A9-A4A7-2EAA-FF28E92180FC}"/>
              </a:ext>
            </a:extLst>
          </p:cNvPr>
          <p:cNvSpPr txBox="1"/>
          <p:nvPr/>
        </p:nvSpPr>
        <p:spPr>
          <a:xfrm>
            <a:off x="838200" y="5080000"/>
            <a:ext cx="4826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000" b="1">
                <a:solidFill>
                  <a:srgbClr val="FF4500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55F8F4-F9AE-3EF1-93F1-5715794F0DDD}"/>
              </a:ext>
            </a:extLst>
          </p:cNvPr>
          <p:cNvSpPr txBox="1"/>
          <p:nvPr/>
        </p:nvSpPr>
        <p:spPr>
          <a:xfrm>
            <a:off x="1498600" y="5080000"/>
            <a:ext cx="279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600" b="1">
                <a:solidFill>
                  <a:srgbClr val="FFFFFF"/>
                </a:solidFill>
                <a:latin typeface="Aptos" panose="020B0004020202020204" pitchFamily="34" charset="0"/>
              </a:rPr>
              <a:t>Paid research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7A13A9-575C-6DB9-5099-84DAE87E3986}"/>
              </a:ext>
            </a:extLst>
          </p:cNvPr>
          <p:cNvSpPr txBox="1"/>
          <p:nvPr/>
        </p:nvSpPr>
        <p:spPr>
          <a:xfrm>
            <a:off x="4470400" y="5080000"/>
            <a:ext cx="6477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BFBFBF"/>
                </a:solidFill>
                <a:latin typeface="Aptos" panose="020B0004020202020204" pitchFamily="34" charset="0"/>
              </a:rPr>
              <a:t>Counsel and merchant approval; production ops</a:t>
            </a:r>
            <a:endParaRPr lang="en-ZA" sz="1400">
              <a:solidFill>
                <a:srgbClr val="BFBFBF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749950-AC5F-E827-653E-AE6C88367A29}"/>
              </a:ext>
            </a:extLst>
          </p:cNvPr>
          <p:cNvSpPr/>
          <p:nvPr/>
        </p:nvSpPr>
        <p:spPr>
          <a:xfrm>
            <a:off x="1054100" y="5562600"/>
            <a:ext cx="25400" cy="254000"/>
          </a:xfrm>
          <a:prstGeom prst="rect">
            <a:avLst/>
          </a:prstGeom>
          <a:solidFill>
            <a:srgbClr val="3333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A04863-0311-EA02-AAF8-3D1863557721}"/>
              </a:ext>
            </a:extLst>
          </p:cNvPr>
          <p:cNvSpPr txBox="1"/>
          <p:nvPr/>
        </p:nvSpPr>
        <p:spPr>
          <a:xfrm>
            <a:off x="838200" y="5842000"/>
            <a:ext cx="4826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000" b="1">
                <a:solidFill>
                  <a:srgbClr val="FF4500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EA90CE-5941-F211-6CF9-1D7AD95A2329}"/>
              </a:ext>
            </a:extLst>
          </p:cNvPr>
          <p:cNvSpPr txBox="1"/>
          <p:nvPr/>
        </p:nvSpPr>
        <p:spPr>
          <a:xfrm>
            <a:off x="1498600" y="5842000"/>
            <a:ext cx="279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600" b="1">
                <a:solidFill>
                  <a:srgbClr val="FFFFFF"/>
                </a:solidFill>
                <a:latin typeface="Aptos" panose="020B0004020202020204" pitchFamily="34" charset="0"/>
              </a:rPr>
              <a:t>Demo / live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E03780-7F1A-C167-88E1-723A00BD1A37}"/>
              </a:ext>
            </a:extLst>
          </p:cNvPr>
          <p:cNvSpPr txBox="1"/>
          <p:nvPr/>
        </p:nvSpPr>
        <p:spPr>
          <a:xfrm>
            <a:off x="4470400" y="5842000"/>
            <a:ext cx="64770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BFBFBF"/>
                </a:solidFill>
                <a:latin typeface="Aptos" panose="020B0004020202020204" pitchFamily="34" charset="0"/>
              </a:rPr>
              <a:t>Broker certification and kill-switch drills</a:t>
            </a:r>
            <a:endParaRPr lang="en-ZA" sz="1400">
              <a:solidFill>
                <a:srgbClr val="BFBFB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811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5F851-6765-9AAB-2008-D672C29DCA0B}"/>
              </a:ext>
            </a:extLst>
          </p:cNvPr>
          <p:cNvSpPr txBox="1"/>
          <p:nvPr/>
        </p:nvSpPr>
        <p:spPr>
          <a:xfrm>
            <a:off x="812800" y="431800"/>
            <a:ext cx="5080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200" b="1">
                <a:solidFill>
                  <a:srgbClr val="FF4500"/>
                </a:solidFill>
                <a:latin typeface="Aptos" panose="020B0004020202020204" pitchFamily="34" charset="0"/>
              </a:rPr>
              <a:t>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EA7A7-070B-DD88-9912-F2C5A3A5BD02}"/>
              </a:ext>
            </a:extLst>
          </p:cNvPr>
          <p:cNvSpPr txBox="1"/>
          <p:nvPr/>
        </p:nvSpPr>
        <p:spPr>
          <a:xfrm>
            <a:off x="812800" y="863600"/>
            <a:ext cx="10414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800" b="1">
                <a:solidFill>
                  <a:srgbClr val="FFFFFF"/>
                </a:solidFill>
                <a:latin typeface="Aptos" panose="020B0004020202020204" pitchFamily="34" charset="0"/>
              </a:rPr>
              <a:t>Ship trust before automation.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DD3FD4-2468-7373-65EB-D115FB61CAC4}"/>
              </a:ext>
            </a:extLst>
          </p:cNvPr>
          <p:cNvSpPr/>
          <p:nvPr/>
        </p:nvSpPr>
        <p:spPr>
          <a:xfrm>
            <a:off x="812800" y="1803400"/>
            <a:ext cx="1168400" cy="38100"/>
          </a:xfrm>
          <a:prstGeom prst="rect">
            <a:avLst/>
          </a:prstGeom>
          <a:solidFill>
            <a:srgbClr val="FF45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BBD48-1BE3-08FC-DDE2-78E1109EBBFD}"/>
              </a:ext>
            </a:extLst>
          </p:cNvPr>
          <p:cNvSpPr txBox="1"/>
          <p:nvPr/>
        </p:nvSpPr>
        <p:spPr>
          <a:xfrm>
            <a:off x="838200" y="2133600"/>
            <a:ext cx="1397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2600" b="1">
                <a:solidFill>
                  <a:srgbClr val="20B95E"/>
                </a:solidFill>
                <a:latin typeface="Aptos" panose="020B0004020202020204" pitchFamily="34" charset="0"/>
              </a:rPr>
              <a:t>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08E49-09E6-CFE5-81F6-F1C5D8C29903}"/>
              </a:ext>
            </a:extLst>
          </p:cNvPr>
          <p:cNvSpPr txBox="1"/>
          <p:nvPr/>
        </p:nvSpPr>
        <p:spPr>
          <a:xfrm>
            <a:off x="2413000" y="2133600"/>
            <a:ext cx="8255000" cy="72840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Build Oryares Lab as an invite-only, paper-only research product.</a:t>
            </a:r>
            <a:endParaRPr lang="en-ZA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AE849-0859-07D1-083A-CF4C44634C1B}"/>
              </a:ext>
            </a:extLst>
          </p:cNvPr>
          <p:cNvSpPr txBox="1"/>
          <p:nvPr/>
        </p:nvSpPr>
        <p:spPr>
          <a:xfrm>
            <a:off x="838200" y="3454400"/>
            <a:ext cx="2286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ZA" sz="1300" b="1">
                <a:solidFill>
                  <a:srgbClr val="FF4500"/>
                </a:solidFill>
                <a:latin typeface="Aptos" panose="020B0004020202020204" pitchFamily="34" charset="0"/>
              </a:rPr>
              <a:t>NEXT SPRINT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C7903-37E2-5EDB-F3D7-C271CBCC8A62}"/>
              </a:ext>
            </a:extLst>
          </p:cNvPr>
          <p:cNvSpPr txBox="1"/>
          <p:nvPr/>
        </p:nvSpPr>
        <p:spPr>
          <a:xfrm>
            <a:off x="838200" y="3860800"/>
            <a:ext cx="990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1  Disable live paths in standard builds</a:t>
            </a:r>
            <a:endParaRPr lang="en-ZA" sz="1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475AA7-B499-5DAC-750C-63774640D1C8}"/>
              </a:ext>
            </a:extLst>
          </p:cNvPr>
          <p:cNvSpPr txBox="1"/>
          <p:nvPr/>
        </p:nvSpPr>
        <p:spPr>
          <a:xfrm>
            <a:off x="838200" y="4241800"/>
            <a:ext cx="990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2  Test and fix every known safety defect</a:t>
            </a:r>
            <a:endParaRPr lang="en-ZA"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68F2F-0218-3FBA-57DA-F6C0FBA4FC7C}"/>
              </a:ext>
            </a:extLst>
          </p:cNvPr>
          <p:cNvSpPr txBox="1"/>
          <p:nvPr/>
        </p:nvSpPr>
        <p:spPr>
          <a:xfrm>
            <a:off x="838200" y="4622800"/>
            <a:ext cx="990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3  Lock the five-market / two-program registry</a:t>
            </a:r>
            <a:endParaRPr lang="en-ZA"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E5488-348F-CC68-A75B-013CA72AC5F5}"/>
              </a:ext>
            </a:extLst>
          </p:cNvPr>
          <p:cNvSpPr txBox="1"/>
          <p:nvPr/>
        </p:nvSpPr>
        <p:spPr>
          <a:xfrm>
            <a:off x="838200" y="5003800"/>
            <a:ext cx="990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4  Build the immutable run manifest and full ledger</a:t>
            </a:r>
            <a:endParaRPr lang="en-ZA"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C62BD-03B6-1D62-964F-E1918B69B8C1}"/>
              </a:ext>
            </a:extLst>
          </p:cNvPr>
          <p:cNvSpPr txBox="1"/>
          <p:nvPr/>
        </p:nvSpPr>
        <p:spPr>
          <a:xfrm>
            <a:off x="838200" y="5384800"/>
            <a:ext cx="990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5  Deliver the first XAU/USD backtest + paper slice</a:t>
            </a:r>
            <a:endParaRPr lang="en-ZA"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A4C3DA-1B7B-89CD-5CF9-CCBB71F3F635}"/>
              </a:ext>
            </a:extLst>
          </p:cNvPr>
          <p:cNvSpPr txBox="1"/>
          <p:nvPr/>
        </p:nvSpPr>
        <p:spPr>
          <a:xfrm>
            <a:off x="838200" y="5765800"/>
            <a:ext cx="990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ptos" panose="020B0004020202020204" pitchFamily="34" charset="0"/>
              </a:rPr>
              <a:t>6  Add root CI and evidence-based launch gates</a:t>
            </a:r>
            <a:endParaRPr lang="en-ZA" sz="1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34138-1DC2-2947-21B3-D5A7E56A4F4C}"/>
              </a:ext>
            </a:extLst>
          </p:cNvPr>
          <p:cNvSpPr txBox="1"/>
          <p:nvPr/>
        </p:nvSpPr>
        <p:spPr>
          <a:xfrm>
            <a:off x="838200" y="6286500"/>
            <a:ext cx="10414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900">
                <a:solidFill>
                  <a:srgbClr val="808080"/>
                </a:solidFill>
                <a:latin typeface="Aptos" panose="020B0004020202020204" pitchFamily="34" charset="0"/>
              </a:rPr>
              <a:t>Planning range: 14-22 engineering weeks to invite-only beta; 24-40 to public paid research, assuming one experienced full-time engineer.</a:t>
            </a:r>
            <a:endParaRPr lang="en-ZA" sz="9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15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PresentationFormat>Custom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Heri Bukanga</dc:creator>
  <cp:lastModifiedBy>Heri Bukanga</cp:lastModifiedBy>
  <cp:revision>1</cp:revision>
  <dcterms:created xsi:type="dcterms:W3CDTF">2026-09-03T09:09:23Z</dcterms:created>
  <dcterms:modified xsi:type="dcterms:W3CDTF">2026-09-03T09:09:23Z</dcterms:modified>
</cp:coreProperties>
</file>